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93" r:id="rId4"/>
    <p:sldId id="290" r:id="rId5"/>
    <p:sldId id="294" r:id="rId6"/>
    <p:sldId id="295" r:id="rId7"/>
  </p:sldIdLst>
  <p:sldSz cx="12192000" cy="6858000"/>
  <p:notesSz cx="6858000" cy="9144000"/>
  <p:embeddedFontLst>
    <p:embeddedFont>
      <p:font typeface="Pretendard" panose="02000503000000020004" pitchFamily="50" charset="-127"/>
      <p:regular r:id="rId9"/>
      <p:bold r:id="rId10"/>
    </p:embeddedFont>
    <p:embeddedFont>
      <p:font typeface="맑은 고딕" panose="020B0503020000020004" pitchFamily="50" charset="-127"/>
      <p:regular r:id="rId11"/>
      <p:bold r:id="rId12"/>
    </p:embeddedFont>
    <p:embeddedFont>
      <p:font typeface="Cambria Math" panose="02040503050406030204" pitchFamily="18" charset="0"/>
      <p:regular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D816D1-D870-4A1C-8543-28675ED3783D}" v="66" dt="2026-05-15T16:10:56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7A9CA-3684-4F97-81D3-9408C09E982D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C5782-FF78-4EAB-824D-F1BE5EEE5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107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6A1C3-3202-DE07-59DA-99E825E73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61D53D-6190-856A-7945-007FCE57C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1BD9C4-A73E-20F9-AD98-80D17DDBF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5C720-C736-4BE9-BB0A-A731B5007692}" type="datetime1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5D04C4-D0A8-CD0F-CBEF-C2D0E8DB7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419301-27FE-AF66-A67E-D62383F0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317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E80B42AB-9CD8-4214-AF4B-C5D90D9ABA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64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DA4B30-2E75-AEC7-8D51-1FCF4C36B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4A8B5B-D939-4914-6B05-5ADDC496D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A59D89-633C-0F5F-C4E6-5B61DF9D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FB17-D08D-4CB4-AFB5-7FCB882A3B44}" type="datetime1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615EE3-84BB-3E5E-9E1D-B9B69C64B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B21DF6-7ACF-39F4-0130-AB6FC5EDA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072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9635B9-E86D-D0EC-3F67-036AFB80F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17163A-538A-4BE2-3E9C-46FE0FC20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3BA615-336A-9539-FFFF-164FA5CA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AE77-C0D9-4EE4-9480-957D0FC3EE2C}" type="datetime1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99E2CF-2D2B-7CC7-D23D-EE165FE1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A5F394-9C2B-1D8B-A70E-D2900E3F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80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4F05D-1B1E-4FC5-67C7-BC852F1D3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A18E5F-A288-33B9-3636-033AF300D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135F06-B536-09BF-242B-5B4961F39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C66E64-4A61-2882-DFDD-C4D5F6660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0E2A-A3CE-43D1-8F22-F737CFCD9B05}" type="datetime1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99A045-7E8D-C3B5-B375-3CD47581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670193-F8E0-CE39-0A8D-6C41781BA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322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9B3B6-2BB3-FF1D-3C60-C8EED8FF9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FF3A0A-2048-267A-A73E-7A3BA569A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F46AD1-4AD1-77D0-A296-0C7E23257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8D020B-4E06-7778-686D-43F986CD3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2516C0-F5F3-FB4E-B3BC-67FC0E7C89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E27F0C-8B59-7F78-7BE6-5917FE031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4B5DA-4BFD-43AD-B901-F7AB11B6480E}" type="datetime1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89CBB64-6A8D-0853-418B-4D3328C11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C6EF68-8371-5E3E-B3A7-106195B2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270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B32335-99AD-BBB2-D075-DD97CE7A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A7961F9-B7D6-B26E-247F-6A5294EF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CB357-8715-4638-82C4-7F4EAFAC9711}" type="datetime1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8DA954-B827-048C-1AC3-35708004F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A3C072-EF83-01C3-28C8-554D2BD4A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265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2A51D2A-E4CE-E7C8-0038-ED7A84CFD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439DA-7F9F-42FA-ABDD-4CD85B431DCC}" type="datetime1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EE3228-E1B3-7EE9-5DFD-0A0BC25FC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10AC28-436F-C269-B056-A509388D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745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45FE90-B958-03DE-499C-A007C0A28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84EBDD-776E-C96B-D7AC-E700D876B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9CC610-502E-05AE-8AEA-9282B4D2B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8FD291-81D6-12E2-CEC5-3E6D94AEB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9A0CD-6570-480A-9FE0-391F8AA238D2}" type="datetime1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21174C-6137-719B-85B7-FDB56AD7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69D272-CD61-3ADB-C9BD-E5209AE80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6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58477-5919-B3C1-26D0-BA760576D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87F493-94D0-72D4-0C66-13F1D4241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6FBD36-F77C-A3E5-8D34-DD694D9E3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1523B6-2565-0974-B3D5-DB1FADCB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6EF57-4DD2-4B08-AFE0-5418F0E9E9F2}" type="datetime1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264873-33C2-B6AF-79CD-4684F205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CD46A7-784F-48CF-DE98-5AA58D32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962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64071-E510-CC3B-35F0-E26FC124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6DA2C9-5C86-B86C-F111-0C8727928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C1046B-FCC3-6146-70CC-6C5D9311B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BCC2C-C2BC-41D2-B54A-36E49D7505C8}" type="datetime1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55A2F5-C7DE-277F-2D05-DAE1E6BC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CAF4FC-337A-16AC-A9DD-55400F040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290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58F9437-8B6E-7D74-2499-626DA1CADD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D63361-9B14-04E9-52A8-DFF0EC62D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FF30C3-373D-0BCA-7EB8-F8F5B4D0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FF99-62F3-4A64-BDF5-837A43BF4E66}" type="datetime1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6D65BC-E03C-722A-3943-7D6D6C95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29A1E8-BAB6-FD58-93E3-B62822B5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387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94259E-2B01-2CFC-00B6-BB74CD68D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2CF9AA-836F-80F7-CCB2-368D1619A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599CD2-FBE0-2607-81C4-EB82D74A7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23352-095C-4246-A4EB-0F839D4F75A2}" type="datetime1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325D44-3728-9EEF-2814-D80467CC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805078-1DD0-130A-E557-BE1F3E246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0B42AB-9CD8-4214-AF4B-C5D90D9ABA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260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BFB73C0-B8B7-4D03-5BEA-A8119A85B003}"/>
              </a:ext>
            </a:extLst>
          </p:cNvPr>
          <p:cNvSpPr/>
          <p:nvPr/>
        </p:nvSpPr>
        <p:spPr>
          <a:xfrm>
            <a:off x="938414" y="1885893"/>
            <a:ext cx="10315172" cy="156464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Image-Based Market Factors and</a:t>
            </a:r>
          </a:p>
          <a:p>
            <a:pPr algn="ctr"/>
            <a:r>
              <a:rPr lang="en-US" altLang="ko-KR" sz="3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ODE Portfolio Optimization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8D48D-77F3-4D86-3C4F-CAEC1CB9549E}"/>
              </a:ext>
            </a:extLst>
          </p:cNvPr>
          <p:cNvSpPr txBox="1"/>
          <p:nvPr/>
        </p:nvSpPr>
        <p:spPr>
          <a:xfrm>
            <a:off x="3371273" y="4051742"/>
            <a:ext cx="5449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고종한</a:t>
            </a: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장한이</a:t>
            </a: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조해윤</a:t>
            </a: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황교선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BD1FE-E1B8-EF84-27FB-E31601801AA2}"/>
              </a:ext>
            </a:extLst>
          </p:cNvPr>
          <p:cNvSpPr txBox="1"/>
          <p:nvPr/>
        </p:nvSpPr>
        <p:spPr>
          <a:xfrm>
            <a:off x="3371273" y="4664574"/>
            <a:ext cx="5449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2026.05.16</a:t>
            </a:r>
            <a:endParaRPr lang="ko-KR" altLang="en-US" sz="2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7BAECB0E-E546-30C3-E66E-594FAAAE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EC570C-0286-37B0-B5F1-4A19DADDF83B}"/>
              </a:ext>
            </a:extLst>
          </p:cNvPr>
          <p:cNvSpPr/>
          <p:nvPr/>
        </p:nvSpPr>
        <p:spPr>
          <a:xfrm>
            <a:off x="0" y="-1"/>
            <a:ext cx="12192000" cy="6557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D5AEBB-FB48-489E-77C7-DD298975B952}"/>
              </a:ext>
            </a:extLst>
          </p:cNvPr>
          <p:cNvSpPr txBox="1"/>
          <p:nvPr/>
        </p:nvSpPr>
        <p:spPr>
          <a:xfrm>
            <a:off x="139468" y="127835"/>
            <a:ext cx="3638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FIND-A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11A926-8436-5969-6FAE-00C5B655204B}"/>
              </a:ext>
            </a:extLst>
          </p:cNvPr>
          <p:cNvSpPr txBox="1"/>
          <p:nvPr/>
        </p:nvSpPr>
        <p:spPr>
          <a:xfrm>
            <a:off x="8414327" y="127835"/>
            <a:ext cx="3638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Delta</a:t>
            </a:r>
          </a:p>
        </p:txBody>
      </p:sp>
    </p:spTree>
    <p:extLst>
      <p:ext uri="{BB962C8B-B14F-4D97-AF65-F5344CB8AC3E}">
        <p14:creationId xmlns:p14="http://schemas.microsoft.com/office/powerpoint/2010/main" val="1186698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4A57E-EE66-E00A-31B8-637F926C9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E3A86BF-BDC4-997E-E554-6919F41D7769}"/>
              </a:ext>
            </a:extLst>
          </p:cNvPr>
          <p:cNvSpPr/>
          <p:nvPr/>
        </p:nvSpPr>
        <p:spPr>
          <a:xfrm>
            <a:off x="0" y="-1"/>
            <a:ext cx="12192000" cy="6557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FA979FA-394A-D8AA-B43C-0EB15270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D7B44C-F258-31B3-4FA9-FB94C003768A}"/>
              </a:ext>
            </a:extLst>
          </p:cNvPr>
          <p:cNvSpPr txBox="1"/>
          <p:nvPr/>
        </p:nvSpPr>
        <p:spPr>
          <a:xfrm>
            <a:off x="508000" y="1707041"/>
            <a:ext cx="69919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CNN </a:t>
            </a:r>
            <a:r>
              <a:rPr lang="ko-KR" alt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비정형 시장정보 추출</a:t>
            </a:r>
            <a:endParaRPr lang="en-US" altLang="ko-KR" sz="2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44EE6-65EF-5389-4706-BCF1BBAECBBB}"/>
              </a:ext>
            </a:extLst>
          </p:cNvPr>
          <p:cNvSpPr txBox="1"/>
          <p:nvPr/>
        </p:nvSpPr>
        <p:spPr>
          <a:xfrm>
            <a:off x="1064951" y="2300432"/>
            <a:ext cx="10431551" cy="1422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CNN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사용하여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OHLCV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이미지로부터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latent nonlinear factor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PCA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통해 글로벌 자산시장 공통요인 추출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CNN factor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기존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common factor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이후에도 추가 설명력을 가지는지 검증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B4BE5-A7C6-24C1-1081-0D4B8FE5A7D7}"/>
              </a:ext>
            </a:extLst>
          </p:cNvPr>
          <p:cNvSpPr txBox="1"/>
          <p:nvPr/>
        </p:nvSpPr>
        <p:spPr>
          <a:xfrm>
            <a:off x="139468" y="127835"/>
            <a:ext cx="3638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개요</a:t>
            </a:r>
            <a:endParaRPr lang="en-US" altLang="ko-KR" sz="20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2C9464-1BD0-4D30-9B81-B33F63937249}"/>
              </a:ext>
            </a:extLst>
          </p:cNvPr>
          <p:cNvSpPr txBox="1"/>
          <p:nvPr/>
        </p:nvSpPr>
        <p:spPr>
          <a:xfrm>
            <a:off x="508000" y="3890077"/>
            <a:ext cx="69919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동적 자산배분 프레임워크</a:t>
            </a:r>
            <a:endParaRPr lang="en-US" altLang="ko-KR" sz="2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C883C-0A6B-68DF-1C71-41EA81DFC142}"/>
              </a:ext>
            </a:extLst>
          </p:cNvPr>
          <p:cNvSpPr txBox="1"/>
          <p:nvPr/>
        </p:nvSpPr>
        <p:spPr>
          <a:xfrm>
            <a:off x="1064951" y="4483468"/>
            <a:ext cx="10431551" cy="498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ODE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dynamic portfolio optimization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71712-1602-A8D9-DB46-6A2B70752ED7}"/>
              </a:ext>
            </a:extLst>
          </p:cNvPr>
          <p:cNvSpPr txBox="1"/>
          <p:nvPr/>
        </p:nvSpPr>
        <p:spPr>
          <a:xfrm>
            <a:off x="508000" y="965968"/>
            <a:ext cx="102160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OHLCV </a:t>
            </a:r>
            <a:r>
              <a:rPr lang="ko-KR" altLang="en-US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이미지 → </a:t>
            </a:r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CNN Factor → PCA Common Factor → ODE Allocation</a:t>
            </a:r>
          </a:p>
        </p:txBody>
      </p:sp>
    </p:spTree>
    <p:extLst>
      <p:ext uri="{BB962C8B-B14F-4D97-AF65-F5344CB8AC3E}">
        <p14:creationId xmlns:p14="http://schemas.microsoft.com/office/powerpoint/2010/main" val="1994381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F3119-F377-76ED-0B0C-1846FC463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35EFFC7-4B3D-7921-98CC-C52D3E613398}"/>
              </a:ext>
            </a:extLst>
          </p:cNvPr>
          <p:cNvSpPr/>
          <p:nvPr/>
        </p:nvSpPr>
        <p:spPr>
          <a:xfrm>
            <a:off x="0" y="-1"/>
            <a:ext cx="12192000" cy="6557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5DC93D-C1D6-298C-61E8-74A878740E84}"/>
              </a:ext>
            </a:extLst>
          </p:cNvPr>
          <p:cNvSpPr txBox="1"/>
          <p:nvPr/>
        </p:nvSpPr>
        <p:spPr>
          <a:xfrm>
            <a:off x="508000" y="818285"/>
            <a:ext cx="69919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Input Data and CNN Factor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E60AC-FF00-86C9-E4F4-A95F92892CEB}"/>
              </a:ext>
            </a:extLst>
          </p:cNvPr>
          <p:cNvSpPr txBox="1"/>
          <p:nvPr/>
        </p:nvSpPr>
        <p:spPr>
          <a:xfrm>
            <a:off x="766656" y="1249172"/>
            <a:ext cx="10431551" cy="1422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 데이터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Open, High, Low, Close, Volume, Moving Average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대상 자산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단기채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장기채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S&amp;P500, KOSPI,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선진국지수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신흥국지수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대체자산지수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CNN Output: </a:t>
            </a: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시장 이미지 기반 </a:t>
            </a: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latent predictive factor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2D0B4-6762-F7ED-C512-FA59AD570CCF}"/>
              </a:ext>
            </a:extLst>
          </p:cNvPr>
          <p:cNvSpPr txBox="1"/>
          <p:nvPr/>
        </p:nvSpPr>
        <p:spPr>
          <a:xfrm>
            <a:off x="139468" y="127835"/>
            <a:ext cx="3638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CNN Factor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395516-0CB2-BD85-CBD3-BC86E0777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56" y="2671228"/>
            <a:ext cx="11189817" cy="398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9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C5339-9271-9226-0EA0-771DC1FB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EE351C8-6863-1B40-1369-2839D497D132}"/>
              </a:ext>
            </a:extLst>
          </p:cNvPr>
          <p:cNvSpPr/>
          <p:nvPr/>
        </p:nvSpPr>
        <p:spPr>
          <a:xfrm>
            <a:off x="0" y="-1"/>
            <a:ext cx="12192000" cy="6557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3B5172E5-D3BF-9CB6-DB7E-D1BD0A821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2B3DCE-A448-B50B-A57D-F6BD11442287}"/>
              </a:ext>
            </a:extLst>
          </p:cNvPr>
          <p:cNvSpPr txBox="1"/>
          <p:nvPr/>
        </p:nvSpPr>
        <p:spPr>
          <a:xfrm>
            <a:off x="508000" y="818285"/>
            <a:ext cx="69919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Significance of Improvements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057241-05B9-B20B-E032-C8D20A175F78}"/>
              </a:ext>
            </a:extLst>
          </p:cNvPr>
          <p:cNvSpPr txBox="1"/>
          <p:nvPr/>
        </p:nvSpPr>
        <p:spPr>
          <a:xfrm>
            <a:off x="139468" y="4497535"/>
            <a:ext cx="11914517" cy="221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Bootstrap CI: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Ensemble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기존의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realistic baseline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보다 향상된 값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해석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Image transform, family diversity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일관된 개선 경향 존재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Ensemble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자체의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lift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통계적으로 입증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하지만 두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ensemble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 어떤 모델을 적용할지는 추후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ODE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백테스팅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진행 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AB2A8C-7CF7-4D3F-A493-7263B5ECCD69}"/>
              </a:ext>
            </a:extLst>
          </p:cNvPr>
          <p:cNvSpPr txBox="1"/>
          <p:nvPr/>
        </p:nvSpPr>
        <p:spPr>
          <a:xfrm>
            <a:off x="139468" y="127835"/>
            <a:ext cx="3638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Sprint 2 Recap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2F6CF01-5FC3-D8B6-2759-980A8CBF0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52" y="1380051"/>
            <a:ext cx="9949971" cy="311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31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4954-1316-6101-562F-8D8CFB4E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88120E6-B4EF-8303-A49C-D21F8F046B00}"/>
              </a:ext>
            </a:extLst>
          </p:cNvPr>
          <p:cNvSpPr/>
          <p:nvPr/>
        </p:nvSpPr>
        <p:spPr>
          <a:xfrm>
            <a:off x="0" y="-1"/>
            <a:ext cx="12192000" cy="6557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99DA1DF3-1D99-E028-ABA8-E1B33E1D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BEF762-ED3C-0D34-72DA-43CE88DF3B94}"/>
              </a:ext>
            </a:extLst>
          </p:cNvPr>
          <p:cNvSpPr txBox="1"/>
          <p:nvPr/>
        </p:nvSpPr>
        <p:spPr>
          <a:xfrm>
            <a:off x="508000" y="818285"/>
            <a:ext cx="69919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PCA Common Factor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8C2F1F-7923-EE3B-1DE0-44D05B0476F3}"/>
                  </a:ext>
                </a:extLst>
              </p:cNvPr>
              <p:cNvSpPr txBox="1"/>
              <p:nvPr/>
            </p:nvSpPr>
            <p:spPr>
              <a:xfrm>
                <a:off x="1064951" y="1411676"/>
                <a:ext cx="10431551" cy="4192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글로벌 자산지수 수익률에 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PCA 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수행 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공통 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macro factor 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추출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𝑹</m:t>
                        </m:r>
                      </m:e>
                      <m:sub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𝒕</m:t>
                        </m:r>
                      </m:sub>
                    </m:sSub>
                    <m:r>
                      <a:rPr lang="en-US" altLang="ko-KR" sz="2000" b="1" i="1" dirty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 = </m:t>
                    </m:r>
                    <m:r>
                      <a:rPr lang="el-GR" altLang="ko-KR" sz="2000" b="1" i="0" dirty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𝚲</m:t>
                    </m:r>
                    <m:sSub>
                      <m:sSubPr>
                        <m:ctrlPr>
                          <a:rPr lang="el-GR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𝑭</m:t>
                        </m:r>
                      </m:e>
                      <m:sub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𝒕</m:t>
                        </m:r>
                      </m:sub>
                    </m:sSub>
                    <m:r>
                      <a:rPr lang="en-US" altLang="ko-KR" sz="2000" b="1" i="1" dirty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 + </m:t>
                    </m:r>
                    <m:sSub>
                      <m:sSubPr>
                        <m:ctrlP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l-GR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𝜺</m:t>
                        </m:r>
                      </m:e>
                      <m:sub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𝒕</m:t>
                        </m:r>
                      </m:sub>
                    </m:sSub>
                  </m:oMath>
                </a14:m>
                <a:endParaRPr lang="ko-KR" altLang="en-US" sz="20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Analysis 1: CNN factor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의 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incremental explanatory power 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검증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𝑹</m:t>
                        </m:r>
                      </m:e>
                      <m:sub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𝒕</m:t>
                        </m:r>
                      </m:sub>
                    </m:sSub>
                    <m:r>
                      <a:rPr lang="en-US" altLang="ko-KR" sz="2000" b="1" i="1" dirty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=</m:t>
                    </m:r>
                    <m:r>
                      <a:rPr lang="el-GR" altLang="ko-KR" sz="2000" b="1" i="1" dirty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𝜷</m:t>
                    </m:r>
                    <m:sSubSup>
                      <m:sSubSupPr>
                        <m:ctrlPr>
                          <a:rPr lang="en-US" altLang="ko-KR" sz="2000" b="1" i="1" dirty="0" err="1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SupPr>
                      <m:e>
                        <m:r>
                          <a:rPr lang="en-US" altLang="ko-KR" sz="2000" b="1" i="1" dirty="0" err="1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𝑭</m:t>
                        </m:r>
                      </m:e>
                      <m:sub>
                        <m:r>
                          <a:rPr lang="en-US" altLang="ko-KR" sz="2000" b="1" i="1" dirty="0" err="1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𝒕</m:t>
                        </m:r>
                      </m:sub>
                      <m:sup>
                        <m:r>
                          <a:rPr lang="en-US" altLang="ko-KR" sz="2000" b="1" i="1" dirty="0" err="1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𝑷</m:t>
                        </m:r>
                      </m:sup>
                    </m:sSubSup>
                    <m:r>
                      <a:rPr lang="en-US" altLang="ko-KR" sz="2000" b="1" i="1" dirty="0" err="1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𝑪𝑨</m:t>
                    </m:r>
                    <m:r>
                      <a:rPr lang="en-US" altLang="ko-KR" sz="2000" b="1" i="1" dirty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+</m:t>
                    </m:r>
                    <m:r>
                      <a:rPr lang="el-GR" altLang="ko-KR" sz="2000" b="1" i="1" dirty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𝜸</m:t>
                    </m:r>
                    <m:sSubSup>
                      <m:sSubSupPr>
                        <m:ctrlPr>
                          <a:rPr lang="en-US" altLang="ko-KR" sz="2000" b="1" i="1" dirty="0" err="1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SupPr>
                      <m:e>
                        <m:r>
                          <a:rPr lang="en-US" altLang="ko-KR" sz="2000" b="1" i="1" dirty="0" err="1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𝒇</m:t>
                        </m:r>
                      </m:e>
                      <m:sub>
                        <m:r>
                          <a:rPr lang="en-US" altLang="ko-KR" sz="2000" b="1" i="1" dirty="0" err="1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𝒕</m:t>
                        </m:r>
                      </m:sub>
                      <m:sup>
                        <m:r>
                          <a:rPr lang="en-US" altLang="ko-KR" sz="2000" b="1" i="1" dirty="0" err="1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𝑪</m:t>
                        </m:r>
                      </m:sup>
                    </m:sSubSup>
                    <m:r>
                      <a:rPr lang="en-US" altLang="ko-KR" sz="2000" b="1" i="1" dirty="0" err="1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𝑵𝑵</m:t>
                    </m:r>
                    <m:r>
                      <a:rPr lang="en-US" altLang="ko-KR" sz="2000" b="1" i="1" dirty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+</m:t>
                    </m:r>
                    <m:sSub>
                      <m:sSubPr>
                        <m:ctrlPr>
                          <a:rPr lang="el-GR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l-GR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𝜺</m:t>
                        </m:r>
                      </m:e>
                      <m:sub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𝒕</m:t>
                        </m:r>
                      </m:sub>
                    </m:sSub>
                  </m:oMath>
                </a14:m>
                <a:endParaRPr lang="ko-KR" altLang="en-US" sz="20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20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Analysis 2: CNN factor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를 포함한 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expected return </a:t>
                </a:r>
                <a:r>
                  <a:rPr lang="el-GR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μ(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t), covariance </a:t>
                </a:r>
                <a:r>
                  <a:rPr lang="el-GR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Σ(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t) 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추정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Sharpe ratio, predictive power, downside risk 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분석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ko-KR" altLang="en-US" sz="20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8C2F1F-7923-EE3B-1DE0-44D05B047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951" y="1411676"/>
                <a:ext cx="10431551" cy="4192045"/>
              </a:xfrm>
              <a:prstGeom prst="rect">
                <a:avLst/>
              </a:prstGeom>
              <a:blipFill>
                <a:blip r:embed="rId2"/>
                <a:stretch>
                  <a:fillRect l="-5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EE8174E-FC0B-7A9D-3F9B-D28FD31D06A5}"/>
              </a:ext>
            </a:extLst>
          </p:cNvPr>
          <p:cNvSpPr txBox="1"/>
          <p:nvPr/>
        </p:nvSpPr>
        <p:spPr>
          <a:xfrm>
            <a:off x="139468" y="127835"/>
            <a:ext cx="3638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PCA Common Factor</a:t>
            </a:r>
          </a:p>
        </p:txBody>
      </p:sp>
    </p:spTree>
    <p:extLst>
      <p:ext uri="{BB962C8B-B14F-4D97-AF65-F5344CB8AC3E}">
        <p14:creationId xmlns:p14="http://schemas.microsoft.com/office/powerpoint/2010/main" val="3084267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85121-C936-2291-5FF1-F2DFB52E2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179B876-E4C7-496D-F64C-4956882C7075}"/>
              </a:ext>
            </a:extLst>
          </p:cNvPr>
          <p:cNvSpPr/>
          <p:nvPr/>
        </p:nvSpPr>
        <p:spPr>
          <a:xfrm>
            <a:off x="0" y="-1"/>
            <a:ext cx="12192000" cy="6557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C7DEBB5-6D18-05A8-5881-E1B9BD101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B42AB-9CD8-4214-AF4B-C5D90D9ABA78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A17FBC-6EC7-EF94-34A0-C593E70D9B55}"/>
              </a:ext>
            </a:extLst>
          </p:cNvPr>
          <p:cNvSpPr txBox="1"/>
          <p:nvPr/>
        </p:nvSpPr>
        <p:spPr>
          <a:xfrm>
            <a:off x="508000" y="818285"/>
            <a:ext cx="69919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ODE-based Dynamic Portfolio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314979-1890-B6B2-A32D-369F430DFFF5}"/>
                  </a:ext>
                </a:extLst>
              </p:cNvPr>
              <p:cNvSpPr txBox="1"/>
              <p:nvPr/>
            </p:nvSpPr>
            <p:spPr>
              <a:xfrm>
                <a:off x="1064951" y="1411676"/>
                <a:ext cx="10431551" cy="348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Markowitz mean-variance optimization 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  <a:sym typeface="Wingdings" panose="05000000000000000000" pitchFamily="2" charset="2"/>
                  </a:rPr>
                  <a:t>정적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  <a:sym typeface="Wingdings" panose="05000000000000000000" pitchFamily="2" charset="2"/>
                  </a:rPr>
                  <a:t> 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  <a:sym typeface="Wingdings" panose="05000000000000000000" pitchFamily="2" charset="2"/>
                  </a:rPr>
                  <a:t>모형으로 한계 존재</a:t>
                </a:r>
                <a:endParaRPr lang="en-US" altLang="ko-KR" sz="20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Continuous-time portfolio dynamics 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적용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fPr>
                      <m:num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𝒅</m:t>
                        </m:r>
                        <m:r>
                          <m:rPr>
                            <m:sty m:val="p"/>
                          </m:rP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w</m:t>
                        </m:r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t</m:t>
                        </m:r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)</m:t>
                        </m:r>
                      </m:num>
                      <m:den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𝒅</m:t>
                        </m:r>
                        <m:r>
                          <m:rPr>
                            <m:sty m:val="p"/>
                          </m:rPr>
                          <a:rPr lang="en-US" altLang="ko-KR" sz="2000" b="1" i="1" dirty="0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t</m:t>
                        </m:r>
                      </m:den>
                    </m:f>
                    <m:r>
                      <a:rPr lang="en-US" altLang="ko-KR" sz="2000" b="1" i="1" dirty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=</m:t>
                    </m:r>
                    <m:r>
                      <a:rPr lang="en-US" altLang="ko-KR" sz="2000" b="1" i="1" dirty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𝒌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dPr>
                      <m:e>
                        <m:r>
                          <a:rPr lang="el-GR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𝜶𝝁</m:t>
                        </m:r>
                        <m:d>
                          <m:dPr>
                            <m:ctrlPr>
                              <a:rPr lang="el-GR" altLang="ko-KR" sz="2000" b="1" i="1" dirty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dPr>
                          <m:e>
                            <m:r>
                              <a:rPr lang="en-US" altLang="ko-KR" sz="2000" b="1" i="1" dirty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𝒕</m:t>
                            </m:r>
                          </m:e>
                        </m:d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−</m:t>
                        </m:r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𝟐</m:t>
                        </m:r>
                        <m:r>
                          <a:rPr lang="el-GR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𝝀</m:t>
                        </m:r>
                        <m:d>
                          <m:dPr>
                            <m:ctrlPr>
                              <a:rPr lang="el-GR" altLang="ko-KR" sz="2000" b="1" i="1" dirty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dPr>
                          <m:e>
                            <m:r>
                              <a:rPr lang="en-US" altLang="ko-KR" sz="2000" b="1" i="1" dirty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𝒕</m:t>
                            </m:r>
                          </m:e>
                        </m:d>
                        <m:r>
                          <a:rPr lang="el-GR" altLang="ko-KR" sz="2000" b="1" i="0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𝚺</m:t>
                        </m:r>
                        <m:d>
                          <m:dPr>
                            <m:ctrlPr>
                              <a:rPr lang="el-GR" altLang="ko-KR" sz="2000" b="1" i="1" dirty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dPr>
                          <m:e>
                            <m:r>
                              <a:rPr lang="en-US" altLang="ko-KR" sz="2000" b="1" i="1" dirty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𝒕</m:t>
                            </m:r>
                          </m:e>
                        </m:d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𝒘</m:t>
                        </m:r>
                        <m:d>
                          <m:dPr>
                            <m:ctrlPr>
                              <a:rPr lang="en-US" altLang="ko-KR" sz="2000" b="1" i="1" dirty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dPr>
                          <m:e>
                            <m:r>
                              <a:rPr lang="en-US" altLang="ko-KR" sz="2000" b="1" i="1" dirty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𝒕</m:t>
                            </m:r>
                          </m:e>
                        </m:d>
                      </m:e>
                    </m:d>
                  </m:oMath>
                </a14:m>
                <a:endParaRPr lang="ko-KR" altLang="en-US" sz="20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Key Features 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  <a:sym typeface="Wingdings" panose="05000000000000000000" pitchFamily="2" charset="2"/>
                  </a:rPr>
                  <a:t> Time-Varying Risk Aversion(</a:t>
                </a:r>
                <a14:m>
                  <m:oMath xmlns:m="http://schemas.openxmlformats.org/officeDocument/2006/math">
                    <m:r>
                      <a:rPr lang="el-GR" altLang="ko-KR" sz="2000" b="1" i="1" dirty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𝝀</m:t>
                    </m:r>
                    <m:d>
                      <m:dPr>
                        <m:ctrlPr>
                          <a:rPr lang="el-GR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dPr>
                      <m:e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𝒕</m:t>
                        </m:r>
                      </m:e>
                    </m:d>
                    <m:r>
                      <a:rPr lang="en-US" altLang="ko-KR" sz="2000" b="1" i="1" dirty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=</m:t>
                    </m:r>
                    <m:sSub>
                      <m:sSubPr>
                        <m:ctrlPr>
                          <a:rPr lang="en-US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l-GR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𝝀</m:t>
                        </m:r>
                      </m:e>
                      <m:sub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𝟎</m:t>
                        </m:r>
                      </m:sub>
                    </m:sSub>
                    <m:r>
                      <a:rPr lang="en-US" altLang="ko-KR" sz="2000" b="1" i="1" dirty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+</m:t>
                    </m:r>
                    <m:r>
                      <a:rPr lang="en-US" altLang="ko-KR" sz="2000" b="1" i="1" dirty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𝑨</m:t>
                    </m:r>
                    <m:sSup>
                      <m:sSupPr>
                        <m:ctrlPr>
                          <a:rPr lang="en-US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pPr>
                      <m:e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𝒆</m:t>
                        </m:r>
                      </m:e>
                      <m:sup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−</m:t>
                        </m:r>
                        <m:r>
                          <a:rPr lang="en-US" altLang="ko-KR" sz="2000" b="1" i="1" dirty="0" err="1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𝑩𝒕</m:t>
                        </m:r>
                      </m:sup>
                    </m:sSup>
                  </m:oMath>
                </a14:m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  <a:sym typeface="Wingdings" panose="05000000000000000000" pitchFamily="2" charset="2"/>
                  </a:rPr>
                  <a:t>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시장 상황 변화에 따른 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adaptive allocation 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가능</a:t>
                </a:r>
                <a:endParaRPr lang="en-US" altLang="ko-KR" sz="20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CNN + PCA 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기반 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expected return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과 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covariance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를 이용한 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adaptive allocation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Dynamic rebalancing 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및 </a:t>
                </a:r>
                <a:r>
                  <a:rPr lang="en-US" altLang="ko-KR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risk control </a:t>
                </a:r>
                <a:r>
                  <a:rPr lang="ko-KR" altLang="en-US" sz="20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수행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314979-1890-B6B2-A32D-369F430DF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951" y="1411676"/>
                <a:ext cx="10431551" cy="3483133"/>
              </a:xfrm>
              <a:prstGeom prst="rect">
                <a:avLst/>
              </a:prstGeom>
              <a:blipFill>
                <a:blip r:embed="rId2"/>
                <a:stretch>
                  <a:fillRect l="-526" b="-24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C63928F-3FA3-0AF4-6C26-4B3FFF69E84F}"/>
              </a:ext>
            </a:extLst>
          </p:cNvPr>
          <p:cNvSpPr txBox="1"/>
          <p:nvPr/>
        </p:nvSpPr>
        <p:spPr>
          <a:xfrm>
            <a:off x="139468" y="160012"/>
            <a:ext cx="69919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ODE-based Dynamic Portfolio Optimization</a:t>
            </a:r>
          </a:p>
        </p:txBody>
      </p:sp>
    </p:spTree>
    <p:extLst>
      <p:ext uri="{BB962C8B-B14F-4D97-AF65-F5344CB8AC3E}">
        <p14:creationId xmlns:p14="http://schemas.microsoft.com/office/powerpoint/2010/main" val="1567585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308</Words>
  <Application>Microsoft Office PowerPoint</Application>
  <PresentationFormat>와이드스크린</PresentationFormat>
  <Paragraphs>50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Cambria Math</vt:lpstr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황교선</dc:creator>
  <cp:lastModifiedBy>고종한[ 학부휴학 / 컴퓨터학과 ]</cp:lastModifiedBy>
  <cp:revision>30</cp:revision>
  <dcterms:created xsi:type="dcterms:W3CDTF">2026-02-27T11:47:10Z</dcterms:created>
  <dcterms:modified xsi:type="dcterms:W3CDTF">2026-05-15T17:02:52Z</dcterms:modified>
</cp:coreProperties>
</file>